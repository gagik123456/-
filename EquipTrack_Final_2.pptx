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1" r:id="rId11"/>
    <p:sldId id="257" r:id="rId8"/>
    <p:sldId id="258" r:id="rId9"/>
    <p:sldId id="262" r:id="rId12"/>
    <p:sldId id="259" r:id="rId10"/>
    <p:sldId id="263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Добро пожаловать!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Calibri"/>
              </a:rPr>
              <a:t>Команда №8 — EquipTrack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0"/>
            <a:ext cx="23774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029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EquipTrack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Ильин Платон · Крысанова Злата · Роговский Лазарь · Скопин Гордей · Соболев Арсений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Данные об оборудовании
нельзя найти быстро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3474720" cy="228600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Тетрадки
у мастеров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40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Уходит сотрудник —
данные пропадают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377440"/>
            <a:ext cx="3474720" cy="228600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Excel
на компьютере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У каждого свой файл,
не синхронизировано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377440"/>
            <a:ext cx="3474720" cy="228600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514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1546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В голове
сотрудника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3840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30–60 минут тратится
на поиск информации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4A3B8"/>
                </a:solidFill>
                <a:latin typeface="Calibri"/>
              </a:rPr>
              <a:t>«Нет единого места, где можно увидеть всё оборудование сразу»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Кто и где страдает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Ежедневная боль на любом предприятии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01368"/>
            <a:ext cx="164592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Мастера и техники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Ищут историю ремонтов
вместо работы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18688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Руководители цехов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Не видят, что сломано
и что скоро сломается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36008"/>
            <a:ext cx="164592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Директора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9377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Оборудование ломается
внезапно — простой = деньги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554480"/>
            <a:ext cx="36576" cy="4114800"/>
          </a:xfrm>
          <a:prstGeom prst="rect">
            <a:avLst/>
          </a:prstGeom>
          <a:solidFill>
            <a:srgbClr val="2D3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563EB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6479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рабочего времени
тратится на поиск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Calibri"/>
              </a:rPr>
              <a:t>≈1 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821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уходит на поиск
истории одного ремонта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262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F4444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94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данных теряется
при уходе сотрудника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Наше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QR-код на каждом станке →
Вся история в телефоне за 3 секунды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QR-код
на корпусе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Наклеиваем на
каждый станок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697480"/>
            <a:ext cx="45720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Сканируй
телефоном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Открывает карточку
в браузере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Карточка
оборудования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Статус, история,
следующее ТО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560320"/>
            <a:ext cx="2468880" cy="2560320"/>
          </a:xfrm>
          <a:prstGeom prst="rect">
            <a:avLst/>
          </a:prstGeom>
          <a:solidFill>
            <a:srgbClr val="1C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697480"/>
            <a:ext cx="457200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База данных
в облаке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7763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Google Sheets —
бесплатно и просто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349240"/>
            <a:ext cx="109728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Один QR-код заменяет тетрадки, Excel и звонки коллегам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274638"/>
            <a:ext cx="1072611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Состав команды №8</a:t>
            </a:r>
          </a:p>
        </p:txBody>
      </p:sp>
      <p:sp>
        <p:nvSpPr>
          <p:cNvPr id="10" name="Card1"/>
          <p:cNvSpPr/>
          <p:nvPr/>
        </p:nvSpPr>
        <p:spPr>
          <a:xfrm>
            <a:off x="731520" y="1097280"/>
            <a:ext cx="4800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11" name="MemberText1"/>
          <p:cNvSpPr txBox="1"/>
          <p:nvPr/>
        </p:nvSpPr>
        <p:spPr>
          <a:xfrm>
            <a:off x="868080" y="1143000"/>
            <a:ext cx="4572000" cy="86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Ильин Платон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Ген. директор по благоустройству и кадровик</a:t>
            </a:r>
          </a:p>
        </p:txBody>
      </p:sp>
      <p:sp>
        <p:nvSpPr>
          <p:cNvPr id="20" name="Card2"/>
          <p:cNvSpPr/>
          <p:nvPr/>
        </p:nvSpPr>
        <p:spPr>
          <a:xfrm>
            <a:off x="6440520" y="1097280"/>
            <a:ext cx="4800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21" name="MemberText2"/>
          <p:cNvSpPr txBox="1"/>
          <p:nvPr/>
        </p:nvSpPr>
        <p:spPr>
          <a:xfrm>
            <a:off x="6577080" y="1143000"/>
            <a:ext cx="4572000" cy="86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Крысанова Злата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Главный информатор и директор по финансам</a:t>
            </a:r>
          </a:p>
        </p:txBody>
      </p:sp>
      <p:sp>
        <p:nvSpPr>
          <p:cNvPr id="30" name="Card3"/>
          <p:cNvSpPr/>
          <p:nvPr/>
        </p:nvSpPr>
        <p:spPr>
          <a:xfrm>
            <a:off x="731520" y="2194560"/>
            <a:ext cx="4800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31" name="MemberText3"/>
          <p:cNvSpPr txBox="1"/>
          <p:nvPr/>
        </p:nvSpPr>
        <p:spPr>
          <a:xfrm>
            <a:off x="868080" y="2240280"/>
            <a:ext cx="4572000" cy="86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Роговский Лазарь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Главный рабочий, обеспечивает команду деньгами и репутацией</a:t>
            </a:r>
          </a:p>
        </p:txBody>
      </p:sp>
      <p:sp>
        <p:nvSpPr>
          <p:cNvPr id="40" name="Card4"/>
          <p:cNvSpPr/>
          <p:nvPr/>
        </p:nvSpPr>
        <p:spPr>
          <a:xfrm>
            <a:off x="6440520" y="2194560"/>
            <a:ext cx="48006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41" name="MemberText4"/>
          <p:cNvSpPr txBox="1"/>
          <p:nvPr/>
        </p:nvSpPr>
        <p:spPr>
          <a:xfrm>
            <a:off x="6577080" y="2240280"/>
            <a:ext cx="4572000" cy="86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Скопин Гордей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Главный дизайнер и руководитель по тайм-менеджменту</a:t>
            </a:r>
          </a:p>
        </p:txBody>
      </p:sp>
      <p:sp>
        <p:nvSpPr>
          <p:cNvPr id="50" name="Card5"/>
          <p:cNvSpPr/>
          <p:nvPr/>
        </p:nvSpPr>
        <p:spPr>
          <a:xfrm>
            <a:off x="3586176" y="3291840"/>
            <a:ext cx="48006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51" name="MemberText5"/>
          <p:cNvSpPr txBox="1"/>
          <p:nvPr/>
        </p:nvSpPr>
        <p:spPr>
          <a:xfrm>
            <a:off x="3722736" y="3337560"/>
            <a:ext cx="4572000" cy="86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Соболев Арсений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Мастер по нейросетям и главный программист проекта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31520" y="274638"/>
            <a:ext cx="1072611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EquipTrack — экологичное решение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31520" y="960438"/>
            <a:ext cx="107261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Цифровизация учёта оборудования снижает нагрузку на природу</a:t>
            </a:r>
          </a:p>
        </p:txBody>
      </p:sp>
      <p:sp>
        <p:nvSpPr>
          <p:cNvPr id="10" name="EcoCard1"/>
          <p:cNvSpPr/>
          <p:nvPr/>
        </p:nvSpPr>
        <p:spPr>
          <a:xfrm>
            <a:off x="731520" y="1554480"/>
            <a:ext cx="320040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11" name="EcoText1"/>
          <p:cNvSpPr txBox="1"/>
          <p:nvPr/>
        </p:nvSpPr>
        <p:spPr>
          <a:xfrm>
            <a:off x="868080" y="160020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📄 Нет бумаги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Тетрадки и журналы заменяет единая цифровая база. Меньше бумаги — меньше вырубки лесов</a:t>
            </a:r>
          </a:p>
        </p:txBody>
      </p:sp>
      <p:sp>
        <p:nvSpPr>
          <p:cNvPr id="20" name="EcoCard2"/>
          <p:cNvSpPr/>
          <p:nvPr/>
        </p:nvSpPr>
        <p:spPr>
          <a:xfrm>
            <a:off x="4160520" y="1554480"/>
            <a:ext cx="320040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21" name="EcoText2"/>
          <p:cNvSpPr txBox="1"/>
          <p:nvPr/>
        </p:nvSpPr>
        <p:spPr>
          <a:xfrm>
            <a:off x="4297080" y="160020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🚶 Меньше перемещений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QR-код даёт доступ к данным с телефона. Не нужно ходить к мастеру или в архив — снижается CO₂</a:t>
            </a:r>
          </a:p>
        </p:txBody>
      </p:sp>
      <p:sp>
        <p:nvSpPr>
          <p:cNvPr id="30" name="EcoCard3"/>
          <p:cNvSpPr/>
          <p:nvPr/>
        </p:nvSpPr>
        <p:spPr>
          <a:xfrm>
            <a:off x="7589520" y="1554480"/>
            <a:ext cx="320040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l"/>
          </a:p>
        </p:txBody>
      </p:sp>
      <p:sp>
        <p:nvSpPr>
          <p:cNvPr id="31" name="EcoText3"/>
          <p:cNvSpPr txBox="1"/>
          <p:nvPr/>
        </p:nvSpPr>
        <p:spPr>
          <a:xfrm>
            <a:off x="7726080" y="160020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⚙️ Долгий срок службы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Своевременное ТО предотвращает поломки. Оборудование служит дольше — меньше отходов</a:t>
            </a:r>
          </a:p>
        </p:txBody>
      </p:sp>
      <p:sp>
        <p:nvSpPr>
          <p:cNvPr id="40" name="StatBox"/>
          <p:cNvSpPr/>
          <p:nvPr/>
        </p:nvSpPr>
        <p:spPr>
          <a:xfrm>
            <a:off x="731520" y="3063240"/>
            <a:ext cx="10726113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 i="1">
                <a:solidFill>
                  <a:srgbClr val="FFFFFF"/>
                </a:solidFill>
                <a:latin typeface="Calibri"/>
              </a:rPr>
              <a:t>Один сервис — меньше бумаги, меньше поездок, дольше жизнь оборудования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in"/>
          <p:cNvSpPr txBox="1"/>
          <p:nvPr/>
        </p:nvSpPr>
        <p:spPr>
          <a:xfrm>
            <a:off x="731520" y="1188720"/>
            <a:ext cx="10726113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EquipTrack</a:t>
            </a:r>
          </a:p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Любое оборудование — под контролем</a:t>
            </a:r>
          </a:p>
        </p:txBody>
      </p:sp>
      <p:sp>
        <p:nvSpPr>
          <p:cNvPr id="3" name="Divider"/>
          <p:cNvSpPr/>
          <p:nvPr/>
        </p:nvSpPr>
        <p:spPr>
          <a:xfrm>
            <a:off x="4572000" y="2834640"/>
            <a:ext cx="3043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hanks"/>
          <p:cNvSpPr txBox="1"/>
          <p:nvPr/>
        </p:nvSpPr>
        <p:spPr>
          <a:xfrm>
            <a:off x="731520" y="3063240"/>
            <a:ext cx="1072611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5" name="TeamLabel"/>
          <p:cNvSpPr txBox="1"/>
          <p:nvPr/>
        </p:nvSpPr>
        <p:spPr>
          <a:xfrm>
            <a:off x="731520" y="3703320"/>
            <a:ext cx="1072611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Команда №8 · Ильин · Крысанова · Роговский · Скопин · Соболев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